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16294D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937760"/>
            <a:ext cx="2743200" cy="2743200"/>
          </a:xfrm>
          <a:prstGeom prst="ellipse">
            <a:avLst/>
          </a:prstGeom>
          <a:solidFill>
            <a:srgbClr val="16294D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960120" cy="96012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987" y="993267"/>
            <a:ext cx="528066" cy="5280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9659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PBEL PROJECT PRESENTATION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3774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User Authentication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Web Apps with IBM Cloud App ID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22960" y="443484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Secure AI Student Support Portal — OAuth 2.0 Authentication, Role-Based Access, and Watson Assistant-Powered Guidance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5806440"/>
            <a:ext cx="1005840" cy="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9436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 •  Express.js  •  MongoDB  •  IBM Cloud App ID  •  IBM Watson Assistant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student portals need enterprise-grade authentication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7492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947672"/>
            <a:ext cx="566928" cy="566928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671" y="2075231"/>
            <a:ext cx="311810" cy="3118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1109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Auth is Risky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45920" y="2313432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Hand-rolled password storage, hashing, and session logic is a frequent source of breaches for student-facing apps.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72200" y="1691640"/>
            <a:ext cx="507492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28232" y="1947672"/>
            <a:ext cx="566928" cy="566928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5791" y="2075231"/>
            <a:ext cx="311810" cy="3118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91109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 Credential Hygiene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178040" y="2313432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reuse weak passwords across sites; without MFA or verified identity providers, accounts are easy targets.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931920"/>
            <a:ext cx="507492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96112" y="4187952"/>
            <a:ext cx="566928" cy="566928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671" y="4315511"/>
            <a:ext cx="311810" cy="31181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15137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Standard Access Control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645920" y="4553712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role-based sessions, distinguishing students from admins reliably (and securely) becomes ad hoc and error-prone.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72200" y="3931920"/>
            <a:ext cx="507492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28232" y="4187952"/>
            <a:ext cx="566928" cy="566928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5791" y="4315511"/>
            <a:ext cx="311810" cy="31181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415137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 Student Support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178040" y="4553712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Admissions, fees, and placement queries are scattered across offices and PDFs — no single, always-on channel to ask questions.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set out to achieve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66928" cy="566928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639" y="1819199"/>
            <a:ext cx="311810" cy="3118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66420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Delegate authentication to IBM Cloud App ID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417320" y="201168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 / OIDC login via App ID's hosted Cloud Directory — no passwords ever touch our server.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2532888"/>
            <a:ext cx="566928" cy="566928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639" y="2660447"/>
            <a:ext cx="311810" cy="3118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50545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Harden the application end-to-end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417320" y="2852928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 CSP, CSRF protection, rate limiting, input sanitization, and secure session handling.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" y="3374136"/>
            <a:ext cx="566928" cy="566928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639" y="3501695"/>
            <a:ext cx="311810" cy="31181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34670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Enforce role-based access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417320" y="3694176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student and admin experiences backed by verified session data, not client-side trust.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40080" y="4215384"/>
            <a:ext cx="566928" cy="566928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639" y="4342943"/>
            <a:ext cx="311810" cy="31181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4187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an AI support channel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1417320" y="4535424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IBM Watson Assistant so students get instant answers on admissions, fees, and placements.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40080" y="5056632"/>
            <a:ext cx="566928" cy="566928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639" y="5184191"/>
            <a:ext cx="311810" cy="31181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17320" y="50292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for many colleges, not one</a:t>
            </a:r>
            <a:endParaRPr lang="en-US" sz="1550" dirty="0"/>
          </a:p>
        </p:txBody>
      </p:sp>
      <p:sp>
        <p:nvSpPr>
          <p:cNvPr id="23" name="Text 16"/>
          <p:cNvSpPr/>
          <p:nvPr/>
        </p:nvSpPr>
        <p:spPr>
          <a:xfrm>
            <a:off x="1417320" y="537667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MongoDB schema and bulk-import pipeline that scales from one institution to thousands.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of the application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6118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65960"/>
            <a:ext cx="621792" cy="621792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303" y="2105863"/>
            <a:ext cx="341986" cy="3419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7432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30632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HTML5, CSS3, Bootstrap 5, EJS templates, vanilla JavaScript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572000" y="1691640"/>
            <a:ext cx="36118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46320" y="1965960"/>
            <a:ext cx="621792" cy="621792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223" y="2105863"/>
            <a:ext cx="341986" cy="34198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46320" y="27432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846320" y="30632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Node.js, Express.js — MVC architecture, async/await throughout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503920" y="1691640"/>
            <a:ext cx="36118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778240" y="1965960"/>
            <a:ext cx="621792" cy="621792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8143" y="2105863"/>
            <a:ext cx="341986" cy="34198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778240" y="27432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778240" y="30632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with Mongoose ODM — schema validation, session store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4023360"/>
            <a:ext cx="36118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4400" y="4297680"/>
            <a:ext cx="621792" cy="621792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4303" y="4437583"/>
            <a:ext cx="341986" cy="34198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" y="50749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14400" y="53949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Cloud App ID, Passport.js (WebAppStrategy, OAuth 2.0/OIDC)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572000" y="4023360"/>
            <a:ext cx="36118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846320" y="4297680"/>
            <a:ext cx="621792" cy="621792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6223" y="4437583"/>
            <a:ext cx="341986" cy="34198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846320" y="50749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Assistant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846320" y="53949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Watson Assistant (AssistantV2) with a database-driven answer layer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503920" y="4023360"/>
            <a:ext cx="36118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778240" y="4297680"/>
            <a:ext cx="621792" cy="621792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8143" y="4437583"/>
            <a:ext cx="341986" cy="34198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778240" y="50749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778240" y="53949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Helmet, CSRF (double-submit cookie), rate limiting, express-validator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pieces fit together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103120" cy="1005840"/>
          </a:xfrm>
          <a:prstGeom prst="roundRect">
            <a:avLst>
              <a:gd name="adj" fmla="val 9091"/>
            </a:avLst>
          </a:prstGeom>
          <a:solidFill>
            <a:srgbClr val="16294D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2128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52374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AF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EJS pages + Bootstrap UI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91840" y="1554480"/>
            <a:ext cx="3108960" cy="2103120"/>
          </a:xfrm>
          <a:prstGeom prst="roundRect">
            <a:avLst>
              <a:gd name="adj" fmla="val 4348"/>
            </a:avLst>
          </a:prstGeom>
          <a:solidFill>
            <a:srgbClr val="1B2E57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16642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Express.js Server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83280" y="1975104"/>
            <a:ext cx="2926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AF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→ Controllers →</a:t>
            </a:r>
            <a:endParaRPr lang="en-US" sz="9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AF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• Session (connect-mongo)</a:t>
            </a:r>
            <a:endParaRPr lang="en-US" sz="9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AF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Helmet, CSRF, Rate Limiting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91840" y="4114800"/>
            <a:ext cx="3108960" cy="1005840"/>
          </a:xfrm>
          <a:prstGeom prst="roundRect">
            <a:avLst>
              <a:gd name="adj" fmla="val 9091"/>
            </a:avLst>
          </a:prstGeom>
          <a:solidFill>
            <a:srgbClr val="16294D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42245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 Atlas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453542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AF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Colleges, Chats, FAQs, Sessions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406640" y="822960"/>
            <a:ext cx="2286000" cy="1234440"/>
          </a:xfrm>
          <a:prstGeom prst="roundRect">
            <a:avLst>
              <a:gd name="adj" fmla="val 7407"/>
            </a:avLst>
          </a:prstGeom>
          <a:solidFill>
            <a:srgbClr val="0F5C6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43800" y="9326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 Cloud App ID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498080" y="1243584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AF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 / OIDC</a:t>
            </a:r>
            <a:endParaRPr lang="en-US" sz="9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AF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Directory login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406640" y="2377440"/>
            <a:ext cx="2286000" cy="1234440"/>
          </a:xfrm>
          <a:prstGeom prst="roundRect">
            <a:avLst>
              <a:gd name="adj" fmla="val 7407"/>
            </a:avLst>
          </a:prstGeom>
          <a:solidFill>
            <a:srgbClr val="0F5C6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43800" y="24871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 Watson Assistant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98080" y="2798064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AF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AssistantV2 API</a:t>
            </a:r>
            <a:endParaRPr lang="en-US" sz="9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AF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replies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406640" y="393192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1B2E57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43800" y="40416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College Answer Engine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98080" y="4352544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AF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MongoDB-driven replies</a:t>
            </a:r>
            <a:endParaRPr lang="en-US" sz="9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AF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selected college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0" y="2606040"/>
            <a:ext cx="50292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246120" y="2651760"/>
            <a:ext cx="-50292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846320" y="3657600"/>
            <a:ext cx="0" cy="41148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446520" y="2011680"/>
            <a:ext cx="914400" cy="-54864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360920" y="1600200"/>
            <a:ext cx="-914400" cy="54864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446520" y="2606040"/>
            <a:ext cx="914400" cy="22860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360920" y="2971800"/>
            <a:ext cx="-914400" cy="-22860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446520" y="3291840"/>
            <a:ext cx="914400" cy="100584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360920" y="4434840"/>
            <a:ext cx="-914400" cy="-100584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640080" y="562356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8F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data (App ID auth context + local profile) is stored in MongoDB via connect-mongo, so login state survives restarts.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Cloud App ID — OAuth 2.0 / OIDC login sequence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09648" y="2857500"/>
            <a:ext cx="201168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4102456" y="2857500"/>
            <a:ext cx="201168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995264" y="2857500"/>
            <a:ext cx="201168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888072" y="2857500"/>
            <a:ext cx="201168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780880" y="2857500"/>
            <a:ext cx="201168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18008" y="2148840"/>
            <a:ext cx="16916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144372" y="1929384"/>
            <a:ext cx="438912" cy="438912"/>
          </a:xfrm>
          <a:prstGeom prst="ellipse">
            <a:avLst/>
          </a:prstGeom>
          <a:solidFill>
            <a:srgbClr val="0B1E3D"/>
          </a:solidFill>
          <a:ln/>
        </p:spPr>
      </p:sp>
      <p:sp>
        <p:nvSpPr>
          <p:cNvPr id="11" name="Text 9"/>
          <p:cNvSpPr/>
          <p:nvPr/>
        </p:nvSpPr>
        <p:spPr>
          <a:xfrm>
            <a:off x="1144372" y="19293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09448" y="2313432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clicks Login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9448" y="2807208"/>
            <a:ext cx="1508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is redirected to /auth/login.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410816" y="2148840"/>
            <a:ext cx="16916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037180" y="1929384"/>
            <a:ext cx="438912" cy="438912"/>
          </a:xfrm>
          <a:prstGeom prst="ellipse">
            <a:avLst/>
          </a:prstGeom>
          <a:solidFill>
            <a:srgbClr val="0B1E3D"/>
          </a:solidFill>
          <a:ln/>
        </p:spPr>
      </p:sp>
      <p:sp>
        <p:nvSpPr>
          <p:cNvPr id="16" name="Text 14"/>
          <p:cNvSpPr/>
          <p:nvPr/>
        </p:nvSpPr>
        <p:spPr>
          <a:xfrm>
            <a:off x="3037180" y="19293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502256" y="2313432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Redirect to App ID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02256" y="2807208"/>
            <a:ext cx="1508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Passport's WebAppStrategy sends the browser to App ID's hosted Cloud Directory sign-in page.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03624" y="2148840"/>
            <a:ext cx="16916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29988" y="1929384"/>
            <a:ext cx="438912" cy="438912"/>
          </a:xfrm>
          <a:prstGeom prst="ellipse">
            <a:avLst/>
          </a:prstGeom>
          <a:solidFill>
            <a:srgbClr val="0B1E3D"/>
          </a:solidFill>
          <a:ln/>
        </p:spPr>
      </p:sp>
      <p:sp>
        <p:nvSpPr>
          <p:cNvPr id="21" name="Text 19"/>
          <p:cNvSpPr/>
          <p:nvPr/>
        </p:nvSpPr>
        <p:spPr>
          <a:xfrm>
            <a:off x="4929988" y="19293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395064" y="2313432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Credentials verified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95064" y="2807208"/>
            <a:ext cx="1508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ID authenticates the student — passwords never reach our server.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196432" y="2148840"/>
            <a:ext cx="16916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22796" y="1929384"/>
            <a:ext cx="438912" cy="438912"/>
          </a:xfrm>
          <a:prstGeom prst="ellipse">
            <a:avLst/>
          </a:prstGeom>
          <a:solidFill>
            <a:srgbClr val="0B1E3D"/>
          </a:solidFill>
          <a:ln/>
        </p:spPr>
      </p:sp>
      <p:sp>
        <p:nvSpPr>
          <p:cNvPr id="26" name="Text 24"/>
          <p:cNvSpPr/>
          <p:nvPr/>
        </p:nvSpPr>
        <p:spPr>
          <a:xfrm>
            <a:off x="6822796" y="19293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87872" y="2313432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Authorization code returned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87872" y="2807208"/>
            <a:ext cx="1508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ID redirects back to /auth/callback with a one-time code.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089240" y="2148840"/>
            <a:ext cx="16916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715604" y="1929384"/>
            <a:ext cx="438912" cy="438912"/>
          </a:xfrm>
          <a:prstGeom prst="ellipse">
            <a:avLst/>
          </a:prstGeom>
          <a:solidFill>
            <a:srgbClr val="0B1E3D"/>
          </a:solidFill>
          <a:ln/>
        </p:spPr>
      </p:sp>
      <p:sp>
        <p:nvSpPr>
          <p:cNvPr id="31" name="Text 29"/>
          <p:cNvSpPr/>
          <p:nvPr/>
        </p:nvSpPr>
        <p:spPr>
          <a:xfrm>
            <a:off x="8715604" y="19293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180680" y="2313432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 exchange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180680" y="2807208"/>
            <a:ext cx="1508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exchanges the code for access + identity tokens via the App ID SDK.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9982048" y="2148840"/>
            <a:ext cx="16916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0608412" y="1929384"/>
            <a:ext cx="438912" cy="438912"/>
          </a:xfrm>
          <a:prstGeom prst="ellipse">
            <a:avLst/>
          </a:prstGeom>
          <a:solidFill>
            <a:srgbClr val="0B1E3D"/>
          </a:solidFill>
          <a:ln/>
        </p:spPr>
      </p:sp>
      <p:sp>
        <p:nvSpPr>
          <p:cNvPr id="36" name="Text 34"/>
          <p:cNvSpPr/>
          <p:nvPr/>
        </p:nvSpPr>
        <p:spPr>
          <a:xfrm>
            <a:off x="10608412" y="19293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0073488" y="2313432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established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073488" y="2807208"/>
            <a:ext cx="1508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student's profile is provisioned in MongoDB and the session is saved.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40080" y="4206240"/>
            <a:ext cx="10881360" cy="1600200"/>
          </a:xfrm>
          <a:prstGeom prst="roundRect">
            <a:avLst>
              <a:gd name="adj" fmla="val 5714"/>
            </a:avLst>
          </a:prstGeom>
          <a:solidFill>
            <a:srgbClr val="EAF3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4400" y="4480560"/>
            <a:ext cx="566928" cy="566928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4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1959" y="4608119"/>
            <a:ext cx="311810" cy="311810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1691640" y="443484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1350" dirty="0"/>
          </a:p>
        </p:txBody>
      </p:sp>
      <p:sp>
        <p:nvSpPr>
          <p:cNvPr id="43" name="Text 40"/>
          <p:cNvSpPr/>
          <p:nvPr/>
        </p:nvSpPr>
        <p:spPr>
          <a:xfrm>
            <a:off x="1691640" y="4773168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critical fix during development: passport 0.6+ regenerates the session after login for security — without passing { keepSessionInfo: true } to passport.authenticate(), App ID's auth context was silently wiped immediately after a successful login.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Watson Assistant Integration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design that scales to any number of colleges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66360" cy="3977640"/>
          </a:xfrm>
          <a:prstGeom prst="roundRect">
            <a:avLst>
              <a:gd name="adj" fmla="val 2759"/>
            </a:avLst>
          </a:prstGeom>
          <a:solidFill>
            <a:srgbClr val="0F5C6B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14884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7290" y="2320290"/>
            <a:ext cx="342900" cy="342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24028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 Watson Assistant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51560" y="3154680"/>
            <a:ext cx="43434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E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general, conversational messages (greetings, small talk, unmatched queries)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E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AssistantV2 API maintains per-session conversational context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E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the reliable fallback whenever no college-specific match is found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55080" y="1783080"/>
            <a:ext cx="516636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720840" y="2148840"/>
            <a:ext cx="685800" cy="685800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2290" y="232029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89520" y="224028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College Answer Engine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766560" y="3154680"/>
            <a:ext cx="43434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fees, admissions, placements, and 6 other topics by keyword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come straight from the selected college's own MongoDB record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colleges get accurate answers instantly — zero extra Watson content needed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779008" y="3451860"/>
            <a:ext cx="640080" cy="640080"/>
          </a:xfrm>
          <a:prstGeom prst="ellipse">
            <a:avLst/>
          </a:prstGeom>
          <a:solidFill>
            <a:srgbClr val="0B1E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779008" y="34518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collections powering the portal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6118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65960"/>
            <a:ext cx="621792" cy="621792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303" y="2105863"/>
            <a:ext cx="341986" cy="3419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7432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30632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ID subject, email, role, selected college, session metadata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572000" y="1691640"/>
            <a:ext cx="36118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46320" y="1965960"/>
            <a:ext cx="621792" cy="621792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223" y="2105863"/>
            <a:ext cx="341986" cy="34198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46320" y="27432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College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846320" y="30632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 profile, admissions/placements text, embedded Courses (fees)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503920" y="1691640"/>
            <a:ext cx="36118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778240" y="1965960"/>
            <a:ext cx="621792" cy="621792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8143" y="2105863"/>
            <a:ext cx="341986" cy="34198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778240" y="27432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ChatHistory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778240" y="30632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Q&amp;A exchange, linked to a user and (optionally) a college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4023360"/>
            <a:ext cx="36118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4400" y="4297680"/>
            <a:ext cx="621792" cy="621792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4303" y="4437583"/>
            <a:ext cx="341986" cy="34198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" y="50749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ActivityLog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14400" y="53949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logout, profile, and admin actions — full audit trail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572000" y="4023360"/>
            <a:ext cx="36118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846320" y="4297680"/>
            <a:ext cx="621792" cy="621792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6223" y="4437583"/>
            <a:ext cx="341986" cy="34198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846320" y="50749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FAQ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846320" y="53949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Admin-curated question/answer pairs shown on the dashboard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503920" y="4023360"/>
            <a:ext cx="36118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778240" y="4297680"/>
            <a:ext cx="621792" cy="621792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8143" y="4437583"/>
            <a:ext cx="341986" cy="34198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778240" y="50749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Sessions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778240" y="53949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connect-mongo session store — durable login state across restarts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Solutions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problems encountered while building this portal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457200"/>
          </a:xfrm>
          <a:prstGeom prst="roundRect">
            <a:avLst>
              <a:gd name="adj" fmla="val 16000"/>
            </a:avLst>
          </a:prstGeom>
          <a:solidFill>
            <a:srgbClr val="0B1E3D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37360"/>
            <a:ext cx="6080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178040" y="173736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10881360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459736"/>
            <a:ext cx="475488" cy="475488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578608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2304288"/>
            <a:ext cx="5349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succeeded but session data vanished immediately after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086600" y="2459736"/>
            <a:ext cx="475488" cy="475488"/>
          </a:xfrm>
          <a:prstGeom prst="ellipse">
            <a:avLst/>
          </a:prstGeom>
          <a:solidFill>
            <a:srgbClr val="1E7F4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5472" y="257860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80960" y="2304288"/>
            <a:ext cx="3657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{ keepSessionInfo: true } to every passport.authenticate() call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2194560"/>
            <a:ext cx="10881360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0080" y="3200400"/>
            <a:ext cx="10881360" cy="1005840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16" name="Shape 12"/>
          <p:cNvSpPr/>
          <p:nvPr/>
        </p:nvSpPr>
        <p:spPr>
          <a:xfrm>
            <a:off x="822960" y="3465576"/>
            <a:ext cx="475488" cy="475488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3584448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3310128"/>
            <a:ext cx="5349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content couldn't scale to many colleges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7086600" y="3465576"/>
            <a:ext cx="475488" cy="475488"/>
          </a:xfrm>
          <a:prstGeom prst="ellipse">
            <a:avLst/>
          </a:prstGeom>
          <a:solidFill>
            <a:srgbClr val="1E7F4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5472" y="3584448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80960" y="3310128"/>
            <a:ext cx="3657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database-driven answer engine on top of Watson's fallback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40080" y="3200400"/>
            <a:ext cx="10881360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40080" y="4206240"/>
            <a:ext cx="10881360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18"/>
          <p:cNvSpPr/>
          <p:nvPr/>
        </p:nvSpPr>
        <p:spPr>
          <a:xfrm>
            <a:off x="822960" y="4471416"/>
            <a:ext cx="475488" cy="475488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" y="4590288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417320" y="4315968"/>
            <a:ext cx="5349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install failed on Windows (deep node_modules paths)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7086600" y="4471416"/>
            <a:ext cx="475488" cy="475488"/>
          </a:xfrm>
          <a:prstGeom prst="ellipse">
            <a:avLst/>
          </a:prstGeom>
          <a:solidFill>
            <a:srgbClr val="1E7F4F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5472" y="4590288"/>
            <a:ext cx="237744" cy="23774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7680960" y="4315968"/>
            <a:ext cx="3657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 Windows long-path support and installed with --ignore-scripts</a:t>
            </a:r>
            <a:endParaRPr lang="en-US" sz="1150" dirty="0"/>
          </a:p>
        </p:txBody>
      </p:sp>
      <p:sp>
        <p:nvSpPr>
          <p:cNvPr id="30" name="Shape 22"/>
          <p:cNvSpPr/>
          <p:nvPr/>
        </p:nvSpPr>
        <p:spPr>
          <a:xfrm>
            <a:off x="640080" y="4206240"/>
            <a:ext cx="10881360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640080" y="5212080"/>
            <a:ext cx="10881360" cy="1005840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32" name="Shape 24"/>
          <p:cNvSpPr/>
          <p:nvPr/>
        </p:nvSpPr>
        <p:spPr>
          <a:xfrm>
            <a:off x="822960" y="5477256"/>
            <a:ext cx="475488" cy="475488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1832" y="5596128"/>
            <a:ext cx="237744" cy="237744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1417320" y="5321808"/>
            <a:ext cx="5349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Bulk-importing thousands of colleges needed validation at scale</a:t>
            </a:r>
            <a:endParaRPr lang="en-US" sz="1150" dirty="0"/>
          </a:p>
        </p:txBody>
      </p:sp>
      <p:sp>
        <p:nvSpPr>
          <p:cNvPr id="35" name="Shape 26"/>
          <p:cNvSpPr/>
          <p:nvPr/>
        </p:nvSpPr>
        <p:spPr>
          <a:xfrm>
            <a:off x="7086600" y="5477256"/>
            <a:ext cx="475488" cy="475488"/>
          </a:xfrm>
          <a:prstGeom prst="ellipse">
            <a:avLst/>
          </a:prstGeom>
          <a:solidFill>
            <a:srgbClr val="1E7F4F"/>
          </a:solidFill>
          <a:ln/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05472" y="5596128"/>
            <a:ext cx="237744" cy="237744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7680960" y="5321808"/>
            <a:ext cx="3657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validation with duplicate detection against DB and file</a:t>
            </a:r>
            <a:endParaRPr lang="en-US" sz="1150" dirty="0"/>
          </a:p>
        </p:txBody>
      </p:sp>
      <p:sp>
        <p:nvSpPr>
          <p:cNvPr id="38" name="Shape 28"/>
          <p:cNvSpPr/>
          <p:nvPr/>
        </p:nvSpPr>
        <p:spPr>
          <a:xfrm>
            <a:off x="640080" y="5212080"/>
            <a:ext cx="10881360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sp>
        <p:nvSpPr>
          <p:cNvPr id="39" name="Shape 29"/>
          <p:cNvSpPr/>
          <p:nvPr/>
        </p:nvSpPr>
        <p:spPr>
          <a:xfrm>
            <a:off x="640080" y="6217920"/>
            <a:ext cx="10881360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sp>
        <p:nvSpPr>
          <p:cNvPr id="40" name="Text 3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project can go next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6118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65960"/>
            <a:ext cx="621792" cy="621792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303" y="2105863"/>
            <a:ext cx="341986" cy="3419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7432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Native Mobile App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14400" y="30632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portal to iOS/Android for on-the-go student access.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572000" y="1691640"/>
            <a:ext cx="36118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46320" y="1965960"/>
            <a:ext cx="621792" cy="621792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223" y="2105863"/>
            <a:ext cx="341986" cy="34198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46320" y="27432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Multi-Language Chatbot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846320" y="30632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regional languages so more students can ask questions naturally.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503920" y="1691640"/>
            <a:ext cx="36118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778240" y="1965960"/>
            <a:ext cx="621792" cy="621792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8143" y="2105863"/>
            <a:ext cx="341986" cy="34198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778240" y="27432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Deeper Analytics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778240" y="30632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admin dashboards — engagement trends, drop-off points, top queries.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4023360"/>
            <a:ext cx="36118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4400" y="4297680"/>
            <a:ext cx="621792" cy="621792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4303" y="4437583"/>
            <a:ext cx="341986" cy="34198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" y="50749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Gateway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14400" y="53949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students pay fees directly through the portal with receipts on file.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572000" y="4023360"/>
            <a:ext cx="36118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846320" y="4297680"/>
            <a:ext cx="621792" cy="621792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6223" y="4437583"/>
            <a:ext cx="341986" cy="34198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846320" y="50749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Notifications &amp; Alerts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846320" y="53949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Push/email reminders for admission deadlines and exam schedules.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503920" y="4023360"/>
            <a:ext cx="36118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778240" y="4297680"/>
            <a:ext cx="621792" cy="621792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8143" y="4437583"/>
            <a:ext cx="341986" cy="34198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778240" y="50749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Institutions at Scale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778240" y="53949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bulk import and onboarding tooling to thousands of colleges nationwide.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206240"/>
            <a:ext cx="4114800" cy="4114800"/>
          </a:xfrm>
          <a:prstGeom prst="ellipse">
            <a:avLst/>
          </a:prstGeom>
          <a:solidFill>
            <a:srgbClr val="16294D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645920"/>
            <a:ext cx="3291840" cy="3291840"/>
          </a:xfrm>
          <a:prstGeom prst="ellipse">
            <a:avLst/>
          </a:prstGeom>
          <a:solidFill>
            <a:srgbClr val="16294D"/>
          </a:solidFill>
          <a:ln/>
        </p:spPr>
      </p:sp>
      <p:sp>
        <p:nvSpPr>
          <p:cNvPr id="4" name="Shape 2"/>
          <p:cNvSpPr/>
          <p:nvPr/>
        </p:nvSpPr>
        <p:spPr>
          <a:xfrm>
            <a:off x="5367528" y="1737360"/>
            <a:ext cx="1463040" cy="146304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3288" y="210312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342900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0" y="42519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184648" y="4983480"/>
            <a:ext cx="1828800" cy="0"/>
          </a:xfrm>
          <a:prstGeom prst="line">
            <a:avLst/>
          </a:prstGeom>
          <a:noFill/>
          <a:ln w="12700">
            <a:solidFill>
              <a:srgbClr val="2C427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0" y="51663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AI Student Support Portal  •  IBM Cloud App ID  •  IBM Watson Assistant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2026-08-01T07:16:48Z</dcterms:created>
  <dcterms:modified xsi:type="dcterms:W3CDTF">2026-08-01T07:16:48Z</dcterms:modified>
</cp:coreProperties>
</file>